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0" r:id="rId2"/>
    <p:sldId id="259" r:id="rId3"/>
    <p:sldId id="261" r:id="rId4"/>
    <p:sldId id="262" r:id="rId5"/>
    <p:sldId id="264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377" autoAdjust="0"/>
  </p:normalViewPr>
  <p:slideViewPr>
    <p:cSldViewPr snapToGrid="0">
      <p:cViewPr>
        <p:scale>
          <a:sx n="46" d="100"/>
          <a:sy n="46" d="100"/>
        </p:scale>
        <p:origin x="1267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554CA-C49A-4950-AE29-AC906DF5FD3C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56E5A-FEC4-4F94-B443-0E6447D44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2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A*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greedy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just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distance</a:t>
            </a:r>
            <a:r>
              <a:rPr lang="de-DE" dirty="0"/>
              <a:t> and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order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priority</a:t>
            </a:r>
            <a:r>
              <a:rPr lang="de-DE" dirty="0"/>
              <a:t> </a:t>
            </a:r>
            <a:r>
              <a:rPr lang="de-DE" dirty="0" err="1"/>
              <a:t>queue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56E5A-FEC4-4F94-B443-0E6447D440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31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56E5A-FEC4-4F94-B443-0E6447D440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46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8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8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1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4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0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98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0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4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39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30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58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2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54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6EA9E4F-B839-4AC7-BB3E-9843335A603A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0E56953-3B53-43B4-ABCA-6EE79E97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6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53C1-3FE5-3FF8-7D73-CC42CFD04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82457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Heuristic Search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18EAC-2D63-7F8C-CDAD-477687332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13.09.2022</a:t>
            </a:r>
          </a:p>
          <a:p>
            <a:r>
              <a:rPr lang="de-DE" dirty="0"/>
              <a:t>Achilleas </a:t>
            </a:r>
            <a:r>
              <a:rPr lang="de-DE" dirty="0" err="1"/>
              <a:t>Tsakpins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4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A0B5-5401-C068-0866-F490B9D8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tx1"/>
                </a:solidFill>
              </a:rPr>
              <a:t>What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does</a:t>
            </a:r>
            <a:r>
              <a:rPr lang="de-DE" dirty="0">
                <a:solidFill>
                  <a:schemeClr val="tx1"/>
                </a:solidFill>
              </a:rPr>
              <a:t> „</a:t>
            </a:r>
            <a:r>
              <a:rPr lang="de-DE" dirty="0" err="1">
                <a:solidFill>
                  <a:schemeClr val="tx1"/>
                </a:solidFill>
              </a:rPr>
              <a:t>heuristic</a:t>
            </a:r>
            <a:r>
              <a:rPr lang="de-DE" dirty="0">
                <a:solidFill>
                  <a:schemeClr val="tx1"/>
                </a:solidFill>
              </a:rPr>
              <a:t>“ </a:t>
            </a:r>
            <a:r>
              <a:rPr lang="de-DE" dirty="0" err="1">
                <a:solidFill>
                  <a:schemeClr val="tx1"/>
                </a:solidFill>
              </a:rPr>
              <a:t>does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even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mean</a:t>
            </a:r>
            <a:r>
              <a:rPr lang="de-DE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A7B94-B3FF-B10E-7E74-08F0A675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472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“A heuristic [..] or heuristic technique, is any approach to problem solving or self-discovery that </a:t>
            </a:r>
            <a:r>
              <a:rPr lang="en-US" sz="2400" b="1" dirty="0">
                <a:solidFill>
                  <a:schemeClr val="tx1"/>
                </a:solidFill>
              </a:rPr>
              <a:t>employs a practical method </a:t>
            </a:r>
            <a:r>
              <a:rPr lang="en-US" sz="2400" dirty="0">
                <a:solidFill>
                  <a:schemeClr val="tx1"/>
                </a:solidFill>
              </a:rPr>
              <a:t>that is </a:t>
            </a:r>
            <a:r>
              <a:rPr lang="en-US" sz="2400" b="1" dirty="0">
                <a:solidFill>
                  <a:schemeClr val="tx1"/>
                </a:solidFill>
              </a:rPr>
              <a:t>not guaranteed to be optimal, perfect, or rational</a:t>
            </a:r>
            <a:r>
              <a:rPr lang="en-US" sz="2400" dirty="0">
                <a:solidFill>
                  <a:schemeClr val="tx1"/>
                </a:solidFill>
              </a:rPr>
              <a:t>, but is nevertheless </a:t>
            </a:r>
            <a:r>
              <a:rPr lang="en-US" sz="2400" b="1" dirty="0">
                <a:solidFill>
                  <a:schemeClr val="tx1"/>
                </a:solidFill>
              </a:rPr>
              <a:t>sufficient for reaching an immediate, short-term goal or approximation</a:t>
            </a:r>
            <a:r>
              <a:rPr lang="en-US" sz="2400" dirty="0">
                <a:solidFill>
                  <a:schemeClr val="tx1"/>
                </a:solidFill>
              </a:rPr>
              <a:t>. Where finding an </a:t>
            </a:r>
            <a:r>
              <a:rPr lang="en-US" sz="2400" b="1" dirty="0">
                <a:solidFill>
                  <a:schemeClr val="tx1"/>
                </a:solidFill>
              </a:rPr>
              <a:t>optimal solution is impossible or impractical</a:t>
            </a:r>
            <a:r>
              <a:rPr lang="en-US" sz="2400" dirty="0">
                <a:solidFill>
                  <a:schemeClr val="tx1"/>
                </a:solidFill>
              </a:rPr>
              <a:t>, heuristic methods can be used to </a:t>
            </a:r>
            <a:r>
              <a:rPr lang="en-US" sz="2400" b="1" dirty="0">
                <a:solidFill>
                  <a:schemeClr val="tx1"/>
                </a:solidFill>
              </a:rPr>
              <a:t>speed up the process of finding a satisfactory solution</a:t>
            </a:r>
            <a:r>
              <a:rPr lang="en-US" sz="2400" dirty="0">
                <a:solidFill>
                  <a:schemeClr val="tx1"/>
                </a:solidFill>
              </a:rPr>
              <a:t>.”  - Wikipedia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91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6F95-915B-CD65-A50F-A3A4E273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71D0A-F531-8D73-A249-2BFB80939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770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“A greedy algorithm is any algorithm that follows the problem-solving heuristic of making the locally optimal choice at each stage. In many problems, a greedy strategy does not produce an optimal solution, but a greedy heuristic can yield locally optimal solutions that approximate a globally optimal solution in a reasonable amount of time.” – Wikipedia</a:t>
            </a:r>
          </a:p>
          <a:p>
            <a:r>
              <a:rPr lang="en-US" dirty="0"/>
              <a:t>Pseudocode:</a:t>
            </a:r>
          </a:p>
          <a:p>
            <a:pPr marL="871200" lvl="1" indent="-457200">
              <a:buFont typeface="+mj-lt"/>
              <a:buAutoNum type="arabicPeriod"/>
            </a:pPr>
            <a:r>
              <a:rPr lang="en-US" sz="1900" dirty="0"/>
              <a:t>As long as Priority Queue is not empty</a:t>
            </a:r>
          </a:p>
          <a:p>
            <a:pPr marL="1177200" lvl="2" indent="-457200">
              <a:buFont typeface="+mj-lt"/>
              <a:buAutoNum type="arabicPeriod"/>
            </a:pPr>
            <a:r>
              <a:rPr lang="en-US" sz="1700" dirty="0"/>
              <a:t>Get first element X of Priority Queue with smallest distance to destination</a:t>
            </a:r>
          </a:p>
          <a:p>
            <a:pPr marL="1177200" lvl="2" indent="-457200">
              <a:buFont typeface="+mj-lt"/>
              <a:buAutoNum type="arabicPeriod"/>
            </a:pPr>
            <a:r>
              <a:rPr lang="en-US" sz="1700" dirty="0"/>
              <a:t>Check if we arrived at the destination</a:t>
            </a:r>
          </a:p>
          <a:p>
            <a:pPr marL="1537200" lvl="3" indent="-457200">
              <a:buFont typeface="+mj-lt"/>
              <a:buAutoNum type="arabicPeriod"/>
            </a:pPr>
            <a:r>
              <a:rPr lang="en-US" sz="1500" dirty="0"/>
              <a:t>Yes: Stop</a:t>
            </a:r>
          </a:p>
          <a:p>
            <a:pPr marL="1537200" lvl="3" indent="-457200">
              <a:buFont typeface="+mj-lt"/>
              <a:buAutoNum type="arabicPeriod"/>
            </a:pPr>
            <a:r>
              <a:rPr lang="en-US" sz="1500" dirty="0"/>
              <a:t>No: add all valid neighbors to the Priority Queue with their distance to the destination</a:t>
            </a:r>
          </a:p>
          <a:p>
            <a:pPr marL="1177200" lvl="2" indent="-457200">
              <a:buFont typeface="+mj-lt"/>
              <a:buAutoNum type="arabicPeriod"/>
            </a:pPr>
            <a:r>
              <a:rPr lang="en-US" sz="1700" dirty="0"/>
              <a:t>Repeat</a:t>
            </a:r>
          </a:p>
          <a:p>
            <a:pPr marL="871200" lvl="1" indent="-457200">
              <a:buFont typeface="+mj-lt"/>
              <a:buAutoNum type="arabicPeriod"/>
            </a:pPr>
            <a:r>
              <a:rPr lang="en-US" sz="1900" dirty="0"/>
              <a:t>Is the current location the destination?</a:t>
            </a:r>
          </a:p>
          <a:p>
            <a:pPr marL="1177200" lvl="2" indent="-457200">
              <a:buFont typeface="+mj-lt"/>
              <a:buAutoNum type="arabicPeriod"/>
            </a:pPr>
            <a:r>
              <a:rPr lang="en-US" sz="1700" dirty="0"/>
              <a:t>Yes: Reached the end</a:t>
            </a:r>
          </a:p>
          <a:p>
            <a:pPr marL="1177200" lvl="2" indent="-457200">
              <a:buFont typeface="+mj-lt"/>
              <a:buAutoNum type="arabicPeriod"/>
            </a:pPr>
            <a:r>
              <a:rPr lang="en-US" sz="1700" dirty="0"/>
              <a:t>No: Failed because of unreachable destination</a:t>
            </a:r>
          </a:p>
          <a:p>
            <a:pPr marL="720000" lvl="2" indent="0">
              <a:buNone/>
            </a:pPr>
            <a:endParaRPr lang="en-US" dirty="0"/>
          </a:p>
          <a:p>
            <a:pPr marL="494100" indent="-457200">
              <a:buFont typeface="+mj-lt"/>
              <a:buAutoNum type="arabicPeriod"/>
            </a:pPr>
            <a:endParaRPr lang="en-US" dirty="0"/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29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EFDD-13C7-EE6A-DBA3-1C3E1BC8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Priority</a:t>
            </a:r>
            <a:r>
              <a:rPr lang="de-DE" dirty="0"/>
              <a:t> Queue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36954-D5F6-FA8A-A1BA-938F9A3FCF8B}"/>
              </a:ext>
            </a:extLst>
          </p:cNvPr>
          <p:cNvSpPr/>
          <p:nvPr/>
        </p:nvSpPr>
        <p:spPr>
          <a:xfrm>
            <a:off x="8831179" y="1580050"/>
            <a:ext cx="2767263" cy="2787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04C661-FC91-2FF5-DD87-E3281C473661}"/>
              </a:ext>
            </a:extLst>
          </p:cNvPr>
          <p:cNvCxnSpPr/>
          <p:nvPr/>
        </p:nvCxnSpPr>
        <p:spPr>
          <a:xfrm>
            <a:off x="9781674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A91DE-C31F-68E4-D8FA-8328F87FB5DB}"/>
              </a:ext>
            </a:extLst>
          </p:cNvPr>
          <p:cNvCxnSpPr/>
          <p:nvPr/>
        </p:nvCxnSpPr>
        <p:spPr>
          <a:xfrm>
            <a:off x="10643937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4FE54B-EAD1-ED0C-3617-DA5BEE5EA863}"/>
              </a:ext>
            </a:extLst>
          </p:cNvPr>
          <p:cNvCxnSpPr>
            <a:cxnSpLocks/>
          </p:cNvCxnSpPr>
          <p:nvPr/>
        </p:nvCxnSpPr>
        <p:spPr>
          <a:xfrm>
            <a:off x="8831179" y="2490537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146A44-0811-B395-2E23-410A84C7617C}"/>
              </a:ext>
            </a:extLst>
          </p:cNvPr>
          <p:cNvCxnSpPr>
            <a:cxnSpLocks/>
          </p:cNvCxnSpPr>
          <p:nvPr/>
        </p:nvCxnSpPr>
        <p:spPr>
          <a:xfrm>
            <a:off x="8831179" y="3412958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Smiley Face 13">
            <a:extLst>
              <a:ext uri="{FF2B5EF4-FFF2-40B4-BE49-F238E27FC236}">
                <a16:creationId xmlns:a16="http://schemas.microsoft.com/office/drawing/2014/main" id="{A51CC754-B1CD-650A-0385-1D0CCD46AFB0}"/>
              </a:ext>
            </a:extLst>
          </p:cNvPr>
          <p:cNvSpPr/>
          <p:nvPr/>
        </p:nvSpPr>
        <p:spPr>
          <a:xfrm>
            <a:off x="10900611" y="3717758"/>
            <a:ext cx="469229" cy="457200"/>
          </a:xfrm>
          <a:prstGeom prst="smileyFac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DD320E31-2F30-08A0-CB19-A65AF9BE158B}"/>
              </a:ext>
            </a:extLst>
          </p:cNvPr>
          <p:cNvSpPr/>
          <p:nvPr/>
        </p:nvSpPr>
        <p:spPr>
          <a:xfrm>
            <a:off x="9023684" y="1780674"/>
            <a:ext cx="501314" cy="493291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56E942-5613-E5C7-D41E-7B51DDD6839C}"/>
              </a:ext>
            </a:extLst>
          </p:cNvPr>
          <p:cNvSpPr txBox="1"/>
          <p:nvPr/>
        </p:nvSpPr>
        <p:spPr>
          <a:xfrm>
            <a:off x="585521" y="2264785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X=2, Y=2,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|2-0| + |2-0| =</a:t>
            </a:r>
          </a:p>
          <a:p>
            <a:r>
              <a:rPr lang="de-DE" dirty="0"/>
              <a:t> 4 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9D226F-8A4D-E8BE-2B05-FE92506223FA}"/>
              </a:ext>
            </a:extLst>
          </p:cNvPr>
          <p:cNvCxnSpPr>
            <a:cxnSpLocks/>
          </p:cNvCxnSpPr>
          <p:nvPr/>
        </p:nvCxnSpPr>
        <p:spPr>
          <a:xfrm>
            <a:off x="1403668" y="1466788"/>
            <a:ext cx="0" cy="797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9CE2EFB-9046-2DD8-6791-EAC0679031BA}"/>
              </a:ext>
            </a:extLst>
          </p:cNvPr>
          <p:cNvSpPr txBox="1"/>
          <p:nvPr/>
        </p:nvSpPr>
        <p:spPr>
          <a:xfrm>
            <a:off x="725889" y="1021619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First</a:t>
            </a:r>
            <a:endParaRPr lang="en-US" sz="24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27B321-3C0A-42D3-5361-21185FCDD293}"/>
              </a:ext>
            </a:extLst>
          </p:cNvPr>
          <p:cNvCxnSpPr>
            <a:cxnSpLocks/>
          </p:cNvCxnSpPr>
          <p:nvPr/>
        </p:nvCxnSpPr>
        <p:spPr>
          <a:xfrm>
            <a:off x="8831179" y="1405267"/>
            <a:ext cx="27672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C9E051-9107-332A-1BBA-765878E7A362}"/>
              </a:ext>
            </a:extLst>
          </p:cNvPr>
          <p:cNvSpPr txBox="1"/>
          <p:nvPr/>
        </p:nvSpPr>
        <p:spPr>
          <a:xfrm>
            <a:off x="9565105" y="935580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X</a:t>
            </a:r>
            <a:endParaRPr lang="en-US" sz="2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4E28D3-FCCA-73CF-E7D0-D75629D9231F}"/>
              </a:ext>
            </a:extLst>
          </p:cNvPr>
          <p:cNvCxnSpPr>
            <a:cxnSpLocks/>
          </p:cNvCxnSpPr>
          <p:nvPr/>
        </p:nvCxnSpPr>
        <p:spPr>
          <a:xfrm>
            <a:off x="8634664" y="1604115"/>
            <a:ext cx="0" cy="27473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3A06B4-10E1-E0D4-EA02-1F83589509FF}"/>
              </a:ext>
            </a:extLst>
          </p:cNvPr>
          <p:cNvSpPr txBox="1"/>
          <p:nvPr/>
        </p:nvSpPr>
        <p:spPr>
          <a:xfrm>
            <a:off x="7758359" y="2710013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937962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EFDD-13C7-EE6A-DBA3-1C3E1BC8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Priority</a:t>
            </a:r>
            <a:r>
              <a:rPr lang="de-DE" dirty="0"/>
              <a:t> Queue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3860B-4D55-8529-754B-E9A70919E651}"/>
              </a:ext>
            </a:extLst>
          </p:cNvPr>
          <p:cNvSpPr txBox="1"/>
          <p:nvPr/>
        </p:nvSpPr>
        <p:spPr>
          <a:xfrm>
            <a:off x="747958" y="5407773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|1-0| + |1-0| =</a:t>
            </a:r>
          </a:p>
          <a:p>
            <a:r>
              <a:rPr lang="de-DE" dirty="0"/>
              <a:t> 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36954-D5F6-FA8A-A1BA-938F9A3FCF8B}"/>
              </a:ext>
            </a:extLst>
          </p:cNvPr>
          <p:cNvSpPr/>
          <p:nvPr/>
        </p:nvSpPr>
        <p:spPr>
          <a:xfrm>
            <a:off x="8831179" y="1580050"/>
            <a:ext cx="2767263" cy="2787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04C661-FC91-2FF5-DD87-E3281C473661}"/>
              </a:ext>
            </a:extLst>
          </p:cNvPr>
          <p:cNvCxnSpPr/>
          <p:nvPr/>
        </p:nvCxnSpPr>
        <p:spPr>
          <a:xfrm>
            <a:off x="9781674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A91DE-C31F-68E4-D8FA-8328F87FB5DB}"/>
              </a:ext>
            </a:extLst>
          </p:cNvPr>
          <p:cNvCxnSpPr/>
          <p:nvPr/>
        </p:nvCxnSpPr>
        <p:spPr>
          <a:xfrm>
            <a:off x="10643937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4FE54B-EAD1-ED0C-3617-DA5BEE5EA863}"/>
              </a:ext>
            </a:extLst>
          </p:cNvPr>
          <p:cNvCxnSpPr>
            <a:cxnSpLocks/>
          </p:cNvCxnSpPr>
          <p:nvPr/>
        </p:nvCxnSpPr>
        <p:spPr>
          <a:xfrm>
            <a:off x="8831179" y="2490537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146A44-0811-B395-2E23-410A84C7617C}"/>
              </a:ext>
            </a:extLst>
          </p:cNvPr>
          <p:cNvCxnSpPr>
            <a:cxnSpLocks/>
          </p:cNvCxnSpPr>
          <p:nvPr/>
        </p:nvCxnSpPr>
        <p:spPr>
          <a:xfrm>
            <a:off x="8831179" y="3412958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Smiley Face 13">
            <a:extLst>
              <a:ext uri="{FF2B5EF4-FFF2-40B4-BE49-F238E27FC236}">
                <a16:creationId xmlns:a16="http://schemas.microsoft.com/office/drawing/2014/main" id="{A51CC754-B1CD-650A-0385-1D0CCD46AFB0}"/>
              </a:ext>
            </a:extLst>
          </p:cNvPr>
          <p:cNvSpPr/>
          <p:nvPr/>
        </p:nvSpPr>
        <p:spPr>
          <a:xfrm>
            <a:off x="10900611" y="3717758"/>
            <a:ext cx="469229" cy="457200"/>
          </a:xfrm>
          <a:prstGeom prst="smileyFac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DD320E31-2F30-08A0-CB19-A65AF9BE158B}"/>
              </a:ext>
            </a:extLst>
          </p:cNvPr>
          <p:cNvSpPr/>
          <p:nvPr/>
        </p:nvSpPr>
        <p:spPr>
          <a:xfrm>
            <a:off x="9023684" y="1780674"/>
            <a:ext cx="501314" cy="493291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70E180-E5AD-A5DD-45B7-04CE661CD7B4}"/>
              </a:ext>
            </a:extLst>
          </p:cNvPr>
          <p:cNvSpPr/>
          <p:nvPr/>
        </p:nvSpPr>
        <p:spPr>
          <a:xfrm>
            <a:off x="9803715" y="3441984"/>
            <a:ext cx="832185" cy="9254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5435A-A4BE-D4FC-1AC9-B4CCE86511EF}"/>
              </a:ext>
            </a:extLst>
          </p:cNvPr>
          <p:cNvSpPr/>
          <p:nvPr/>
        </p:nvSpPr>
        <p:spPr>
          <a:xfrm>
            <a:off x="10665978" y="2502470"/>
            <a:ext cx="940499" cy="89534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557D77-A7F0-87EE-AEFF-F924327F241C}"/>
              </a:ext>
            </a:extLst>
          </p:cNvPr>
          <p:cNvSpPr/>
          <p:nvPr/>
        </p:nvSpPr>
        <p:spPr>
          <a:xfrm>
            <a:off x="9803723" y="2502470"/>
            <a:ext cx="818174" cy="89336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6A10A1-882B-F0DE-24F2-3166BB4EE97D}"/>
              </a:ext>
            </a:extLst>
          </p:cNvPr>
          <p:cNvSpPr txBox="1"/>
          <p:nvPr/>
        </p:nvSpPr>
        <p:spPr>
          <a:xfrm>
            <a:off x="3084104" y="5415152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X=2,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|2-0| + |1-0| =</a:t>
            </a:r>
          </a:p>
          <a:p>
            <a:r>
              <a:rPr lang="de-DE" dirty="0"/>
              <a:t> 3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01C034-BF95-500D-C664-BA9FEB351EBB}"/>
              </a:ext>
            </a:extLst>
          </p:cNvPr>
          <p:cNvSpPr txBox="1"/>
          <p:nvPr/>
        </p:nvSpPr>
        <p:spPr>
          <a:xfrm>
            <a:off x="5342015" y="5407771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Y=2,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|1-0| + |2-0| =</a:t>
            </a:r>
          </a:p>
          <a:p>
            <a:r>
              <a:rPr lang="de-DE" dirty="0"/>
              <a:t> 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BCDFA0-897E-626D-A981-A2C2969C5FB8}"/>
              </a:ext>
            </a:extLst>
          </p:cNvPr>
          <p:cNvCxnSpPr>
            <a:cxnSpLocks/>
          </p:cNvCxnSpPr>
          <p:nvPr/>
        </p:nvCxnSpPr>
        <p:spPr>
          <a:xfrm>
            <a:off x="1566105" y="4609776"/>
            <a:ext cx="0" cy="797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A0D721-ECD2-9F82-CD06-31B3D0474290}"/>
              </a:ext>
            </a:extLst>
          </p:cNvPr>
          <p:cNvSpPr txBox="1"/>
          <p:nvPr/>
        </p:nvSpPr>
        <p:spPr>
          <a:xfrm>
            <a:off x="888326" y="4164607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First</a:t>
            </a:r>
            <a:endParaRPr lang="en-US" sz="24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D5F9B4-7FF7-C680-78F5-9D6BD167011D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>
          <a:xfrm flipH="1" flipV="1">
            <a:off x="2384252" y="6007938"/>
            <a:ext cx="699852" cy="7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D0B4FC1-E8D2-BD0C-9444-F9622823C5D0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4720398" y="6007936"/>
            <a:ext cx="621617" cy="73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84E72D-4985-BC1B-58EC-2F1686EF04BC}"/>
              </a:ext>
            </a:extLst>
          </p:cNvPr>
          <p:cNvCxnSpPr>
            <a:cxnSpLocks/>
          </p:cNvCxnSpPr>
          <p:nvPr/>
        </p:nvCxnSpPr>
        <p:spPr>
          <a:xfrm>
            <a:off x="8831179" y="1405267"/>
            <a:ext cx="27672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25F285A-BC96-13F1-6DEE-1978FC925FF8}"/>
              </a:ext>
            </a:extLst>
          </p:cNvPr>
          <p:cNvSpPr txBox="1"/>
          <p:nvPr/>
        </p:nvSpPr>
        <p:spPr>
          <a:xfrm>
            <a:off x="9565105" y="935580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X</a:t>
            </a:r>
            <a:endParaRPr lang="en-US" sz="24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98B2C6-A942-21D8-59F3-5FD17983BA2F}"/>
              </a:ext>
            </a:extLst>
          </p:cNvPr>
          <p:cNvCxnSpPr>
            <a:cxnSpLocks/>
          </p:cNvCxnSpPr>
          <p:nvPr/>
        </p:nvCxnSpPr>
        <p:spPr>
          <a:xfrm>
            <a:off x="8634664" y="1604115"/>
            <a:ext cx="0" cy="27473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C3BA80-CD18-6C49-7FA5-D618C71B7C8A}"/>
              </a:ext>
            </a:extLst>
          </p:cNvPr>
          <p:cNvSpPr txBox="1"/>
          <p:nvPr/>
        </p:nvSpPr>
        <p:spPr>
          <a:xfrm>
            <a:off x="7758359" y="2710013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13925F-2BBF-8167-7F9F-C9C457C61A1E}"/>
              </a:ext>
            </a:extLst>
          </p:cNvPr>
          <p:cNvSpPr txBox="1"/>
          <p:nvPr/>
        </p:nvSpPr>
        <p:spPr>
          <a:xfrm>
            <a:off x="10491532" y="2736504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1.</a:t>
            </a:r>
            <a:endParaRPr 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A92507-C1A1-E605-0FB9-FF9A2C1927C6}"/>
              </a:ext>
            </a:extLst>
          </p:cNvPr>
          <p:cNvSpPr txBox="1"/>
          <p:nvPr/>
        </p:nvSpPr>
        <p:spPr>
          <a:xfrm>
            <a:off x="9611228" y="2730259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2.</a:t>
            </a:r>
            <a:endParaRPr 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7A381-6F89-FE8F-0503-8E40BA6601C9}"/>
              </a:ext>
            </a:extLst>
          </p:cNvPr>
          <p:cNvSpPr txBox="1"/>
          <p:nvPr/>
        </p:nvSpPr>
        <p:spPr>
          <a:xfrm>
            <a:off x="9571124" y="3674966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3.</a:t>
            </a:r>
            <a:endParaRPr 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1D5E0B-3297-3BCE-4675-7A277C2C815D}"/>
              </a:ext>
            </a:extLst>
          </p:cNvPr>
          <p:cNvSpPr txBox="1"/>
          <p:nvPr/>
        </p:nvSpPr>
        <p:spPr>
          <a:xfrm>
            <a:off x="80204" y="3579832"/>
            <a:ext cx="400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/>
              <a:t>Result</a:t>
            </a:r>
            <a:r>
              <a:rPr lang="de-DE" sz="3200" b="1" dirty="0"/>
              <a:t> with </a:t>
            </a:r>
            <a:r>
              <a:rPr lang="de-DE" sz="3200" b="1" dirty="0" err="1"/>
              <a:t>priority</a:t>
            </a:r>
            <a:r>
              <a:rPr lang="de-DE" sz="2400" b="1" dirty="0"/>
              <a:t>: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5FFE70-5735-0151-5827-EB0E801C1182}"/>
              </a:ext>
            </a:extLst>
          </p:cNvPr>
          <p:cNvSpPr txBox="1"/>
          <p:nvPr/>
        </p:nvSpPr>
        <p:spPr>
          <a:xfrm>
            <a:off x="585521" y="2264785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X=2,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|2-0| + |1-0| =</a:t>
            </a:r>
          </a:p>
          <a:p>
            <a:r>
              <a:rPr lang="de-DE" dirty="0"/>
              <a:t>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D6A9F2-86C5-ACAD-88B7-7B32885F4ABE}"/>
              </a:ext>
            </a:extLst>
          </p:cNvPr>
          <p:cNvSpPr txBox="1"/>
          <p:nvPr/>
        </p:nvSpPr>
        <p:spPr>
          <a:xfrm>
            <a:off x="2921667" y="2272164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|1-0| + |1-0| =</a:t>
            </a:r>
          </a:p>
          <a:p>
            <a:r>
              <a:rPr lang="de-DE" dirty="0"/>
              <a:t> 2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D10C05-130A-F838-AF06-C8EBBB7013F5}"/>
              </a:ext>
            </a:extLst>
          </p:cNvPr>
          <p:cNvSpPr txBox="1"/>
          <p:nvPr/>
        </p:nvSpPr>
        <p:spPr>
          <a:xfrm>
            <a:off x="5179578" y="2264783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Y=2,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|1-0| + |2-0| =</a:t>
            </a:r>
          </a:p>
          <a:p>
            <a:r>
              <a:rPr lang="de-DE" dirty="0"/>
              <a:t> 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C5DBFD-3D91-2445-45AC-DFEB99CC6A17}"/>
              </a:ext>
            </a:extLst>
          </p:cNvPr>
          <p:cNvCxnSpPr>
            <a:cxnSpLocks/>
          </p:cNvCxnSpPr>
          <p:nvPr/>
        </p:nvCxnSpPr>
        <p:spPr>
          <a:xfrm>
            <a:off x="1403668" y="1466788"/>
            <a:ext cx="0" cy="797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A2132E0-46C4-B239-6AE1-DCBAE9A39B83}"/>
              </a:ext>
            </a:extLst>
          </p:cNvPr>
          <p:cNvSpPr txBox="1"/>
          <p:nvPr/>
        </p:nvSpPr>
        <p:spPr>
          <a:xfrm>
            <a:off x="725889" y="1021619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First</a:t>
            </a:r>
            <a:endParaRPr lang="en-US" sz="2400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CE38C8-50F3-9883-2A3A-912820C320AA}"/>
              </a:ext>
            </a:extLst>
          </p:cNvPr>
          <p:cNvCxnSpPr>
            <a:cxnSpLocks/>
            <a:stCxn id="25" idx="1"/>
            <a:endCxn id="24" idx="3"/>
          </p:cNvCxnSpPr>
          <p:nvPr/>
        </p:nvCxnSpPr>
        <p:spPr>
          <a:xfrm flipH="1" flipV="1">
            <a:off x="2221815" y="2864950"/>
            <a:ext cx="699852" cy="7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ADC2AE-19FA-F1F7-F1C4-7A4371ACE139}"/>
              </a:ext>
            </a:extLst>
          </p:cNvPr>
          <p:cNvCxnSpPr>
            <a:cxnSpLocks/>
            <a:stCxn id="28" idx="1"/>
            <a:endCxn id="25" idx="3"/>
          </p:cNvCxnSpPr>
          <p:nvPr/>
        </p:nvCxnSpPr>
        <p:spPr>
          <a:xfrm flipH="1">
            <a:off x="4557961" y="2864948"/>
            <a:ext cx="621617" cy="73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221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EFDD-13C7-EE6A-DBA3-1C3E1BC8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Priority</a:t>
            </a:r>
            <a:r>
              <a:rPr lang="de-DE" dirty="0"/>
              <a:t> Queue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36954-D5F6-FA8A-A1BA-938F9A3FCF8B}"/>
              </a:ext>
            </a:extLst>
          </p:cNvPr>
          <p:cNvSpPr/>
          <p:nvPr/>
        </p:nvSpPr>
        <p:spPr>
          <a:xfrm>
            <a:off x="8831179" y="1580050"/>
            <a:ext cx="2767263" cy="2787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04C661-FC91-2FF5-DD87-E3281C473661}"/>
              </a:ext>
            </a:extLst>
          </p:cNvPr>
          <p:cNvCxnSpPr/>
          <p:nvPr/>
        </p:nvCxnSpPr>
        <p:spPr>
          <a:xfrm>
            <a:off x="9781674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A91DE-C31F-68E4-D8FA-8328F87FB5DB}"/>
              </a:ext>
            </a:extLst>
          </p:cNvPr>
          <p:cNvCxnSpPr/>
          <p:nvPr/>
        </p:nvCxnSpPr>
        <p:spPr>
          <a:xfrm>
            <a:off x="10643937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4FE54B-EAD1-ED0C-3617-DA5BEE5EA863}"/>
              </a:ext>
            </a:extLst>
          </p:cNvPr>
          <p:cNvCxnSpPr>
            <a:cxnSpLocks/>
          </p:cNvCxnSpPr>
          <p:nvPr/>
        </p:nvCxnSpPr>
        <p:spPr>
          <a:xfrm>
            <a:off x="8831179" y="2490537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146A44-0811-B395-2E23-410A84C7617C}"/>
              </a:ext>
            </a:extLst>
          </p:cNvPr>
          <p:cNvCxnSpPr>
            <a:cxnSpLocks/>
          </p:cNvCxnSpPr>
          <p:nvPr/>
        </p:nvCxnSpPr>
        <p:spPr>
          <a:xfrm>
            <a:off x="8831179" y="3412958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Smiley Face 13">
            <a:extLst>
              <a:ext uri="{FF2B5EF4-FFF2-40B4-BE49-F238E27FC236}">
                <a16:creationId xmlns:a16="http://schemas.microsoft.com/office/drawing/2014/main" id="{A51CC754-B1CD-650A-0385-1D0CCD46AFB0}"/>
              </a:ext>
            </a:extLst>
          </p:cNvPr>
          <p:cNvSpPr/>
          <p:nvPr/>
        </p:nvSpPr>
        <p:spPr>
          <a:xfrm>
            <a:off x="9956127" y="2731170"/>
            <a:ext cx="469229" cy="457200"/>
          </a:xfrm>
          <a:prstGeom prst="smileyFac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DD320E31-2F30-08A0-CB19-A65AF9BE158B}"/>
              </a:ext>
            </a:extLst>
          </p:cNvPr>
          <p:cNvSpPr/>
          <p:nvPr/>
        </p:nvSpPr>
        <p:spPr>
          <a:xfrm>
            <a:off x="9023684" y="1780674"/>
            <a:ext cx="501314" cy="493291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70E180-E5AD-A5DD-45B7-04CE661CD7B4}"/>
              </a:ext>
            </a:extLst>
          </p:cNvPr>
          <p:cNvSpPr/>
          <p:nvPr/>
        </p:nvSpPr>
        <p:spPr>
          <a:xfrm>
            <a:off x="8831178" y="2510232"/>
            <a:ext cx="930436" cy="8818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5435A-A4BE-D4FC-1AC9-B4CCE86511EF}"/>
              </a:ext>
            </a:extLst>
          </p:cNvPr>
          <p:cNvSpPr/>
          <p:nvPr/>
        </p:nvSpPr>
        <p:spPr>
          <a:xfrm>
            <a:off x="9801730" y="1578394"/>
            <a:ext cx="822146" cy="89218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557D77-A7F0-87EE-AEFF-F924327F241C}"/>
              </a:ext>
            </a:extLst>
          </p:cNvPr>
          <p:cNvSpPr/>
          <p:nvPr/>
        </p:nvSpPr>
        <p:spPr>
          <a:xfrm>
            <a:off x="8831178" y="1578394"/>
            <a:ext cx="930437" cy="892191"/>
          </a:xfrm>
          <a:prstGeom prst="rect">
            <a:avLst/>
          </a:prstGeom>
          <a:solidFill>
            <a:schemeClr val="accent2">
              <a:alpha val="5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84E72D-4985-BC1B-58EC-2F1686EF04BC}"/>
              </a:ext>
            </a:extLst>
          </p:cNvPr>
          <p:cNvCxnSpPr>
            <a:cxnSpLocks/>
          </p:cNvCxnSpPr>
          <p:nvPr/>
        </p:nvCxnSpPr>
        <p:spPr>
          <a:xfrm>
            <a:off x="8831179" y="1405267"/>
            <a:ext cx="27672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25F285A-BC96-13F1-6DEE-1978FC925FF8}"/>
              </a:ext>
            </a:extLst>
          </p:cNvPr>
          <p:cNvSpPr txBox="1"/>
          <p:nvPr/>
        </p:nvSpPr>
        <p:spPr>
          <a:xfrm>
            <a:off x="9565105" y="935580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X</a:t>
            </a:r>
            <a:endParaRPr lang="en-US" sz="24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98B2C6-A942-21D8-59F3-5FD17983BA2F}"/>
              </a:ext>
            </a:extLst>
          </p:cNvPr>
          <p:cNvCxnSpPr>
            <a:cxnSpLocks/>
          </p:cNvCxnSpPr>
          <p:nvPr/>
        </p:nvCxnSpPr>
        <p:spPr>
          <a:xfrm>
            <a:off x="8634664" y="1604115"/>
            <a:ext cx="0" cy="27473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C3BA80-CD18-6C49-7FA5-D618C71B7C8A}"/>
              </a:ext>
            </a:extLst>
          </p:cNvPr>
          <p:cNvSpPr txBox="1"/>
          <p:nvPr/>
        </p:nvSpPr>
        <p:spPr>
          <a:xfrm>
            <a:off x="7758359" y="2710013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79613F-7068-698A-3364-9E90DCE318AD}"/>
              </a:ext>
            </a:extLst>
          </p:cNvPr>
          <p:cNvSpPr txBox="1"/>
          <p:nvPr/>
        </p:nvSpPr>
        <p:spPr>
          <a:xfrm>
            <a:off x="9547057" y="1816316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1.</a:t>
            </a:r>
            <a:endParaRPr lang="en-US" sz="2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328C77-0CE1-1359-6BB2-B86C52D3D440}"/>
              </a:ext>
            </a:extLst>
          </p:cNvPr>
          <p:cNvSpPr txBox="1"/>
          <p:nvPr/>
        </p:nvSpPr>
        <p:spPr>
          <a:xfrm>
            <a:off x="8684812" y="1840379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2.</a:t>
            </a:r>
            <a:endParaRPr lang="en-US" sz="2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32E3DE-AF79-677F-D606-2766889C7F8B}"/>
              </a:ext>
            </a:extLst>
          </p:cNvPr>
          <p:cNvSpPr txBox="1"/>
          <p:nvPr/>
        </p:nvSpPr>
        <p:spPr>
          <a:xfrm>
            <a:off x="8620622" y="2742096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3.</a:t>
            </a:r>
            <a:endParaRPr lang="en-US" sz="2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F6E58B-A6A7-9DA2-DC2B-C8EF16C55B15}"/>
              </a:ext>
            </a:extLst>
          </p:cNvPr>
          <p:cNvSpPr txBox="1"/>
          <p:nvPr/>
        </p:nvSpPr>
        <p:spPr>
          <a:xfrm>
            <a:off x="7690206" y="5407771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X=2,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|2-0| + |1-0| =</a:t>
            </a:r>
          </a:p>
          <a:p>
            <a:r>
              <a:rPr lang="de-DE" dirty="0"/>
              <a:t> 3</a:t>
            </a:r>
            <a:endParaRPr lang="en-US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72AA998-9C84-AD5E-B4FA-3395425378FD}"/>
              </a:ext>
            </a:extLst>
          </p:cNvPr>
          <p:cNvCxnSpPr>
            <a:cxnSpLocks/>
            <a:stCxn id="45" idx="1"/>
            <a:endCxn id="66" idx="3"/>
          </p:cNvCxnSpPr>
          <p:nvPr/>
        </p:nvCxnSpPr>
        <p:spPr>
          <a:xfrm flipH="1">
            <a:off x="6978309" y="6007936"/>
            <a:ext cx="71189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0B52DD7-C7AF-D46C-2B23-93670C7F135F}"/>
              </a:ext>
            </a:extLst>
          </p:cNvPr>
          <p:cNvSpPr txBox="1"/>
          <p:nvPr/>
        </p:nvSpPr>
        <p:spPr>
          <a:xfrm>
            <a:off x="10020318" y="5407771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Y=2,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|1-0| + |2-0| =</a:t>
            </a:r>
          </a:p>
          <a:p>
            <a:r>
              <a:rPr lang="de-DE" dirty="0"/>
              <a:t> 3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34C8686-4EB7-DEC0-BBD0-6C569E677616}"/>
              </a:ext>
            </a:extLst>
          </p:cNvPr>
          <p:cNvCxnSpPr>
            <a:cxnSpLocks/>
            <a:stCxn id="49" idx="1"/>
            <a:endCxn id="45" idx="3"/>
          </p:cNvCxnSpPr>
          <p:nvPr/>
        </p:nvCxnSpPr>
        <p:spPr>
          <a:xfrm flipH="1">
            <a:off x="9326500" y="6007936"/>
            <a:ext cx="6938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5827FC2-213E-3F6C-C772-E7F5B137E497}"/>
              </a:ext>
            </a:extLst>
          </p:cNvPr>
          <p:cNvSpPr txBox="1"/>
          <p:nvPr/>
        </p:nvSpPr>
        <p:spPr>
          <a:xfrm>
            <a:off x="585521" y="2264785"/>
            <a:ext cx="980583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X=2, Y=1, </a:t>
            </a:r>
          </a:p>
          <a:p>
            <a:r>
              <a:rPr lang="de-DE" dirty="0"/>
              <a:t>D =3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15E4A7C-07F0-64BD-0B97-3BD4A9BE9865}"/>
              </a:ext>
            </a:extLst>
          </p:cNvPr>
          <p:cNvCxnSpPr>
            <a:cxnSpLocks/>
          </p:cNvCxnSpPr>
          <p:nvPr/>
        </p:nvCxnSpPr>
        <p:spPr>
          <a:xfrm>
            <a:off x="1403668" y="1466788"/>
            <a:ext cx="0" cy="797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D8AC855-43F9-B570-B7D4-000886EFA837}"/>
              </a:ext>
            </a:extLst>
          </p:cNvPr>
          <p:cNvSpPr txBox="1"/>
          <p:nvPr/>
        </p:nvSpPr>
        <p:spPr>
          <a:xfrm>
            <a:off x="725889" y="1021619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First</a:t>
            </a:r>
            <a:endParaRPr lang="en-US" sz="24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511E6F-2EA6-F8A4-D0E8-3D1FA9CABE9C}"/>
              </a:ext>
            </a:extLst>
          </p:cNvPr>
          <p:cNvSpPr txBox="1"/>
          <p:nvPr/>
        </p:nvSpPr>
        <p:spPr>
          <a:xfrm>
            <a:off x="747958" y="5407773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X=0, Y=0,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|0-0| + |0-0| =</a:t>
            </a:r>
          </a:p>
          <a:p>
            <a:r>
              <a:rPr lang="de-DE" dirty="0"/>
              <a:t> 0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E0A982-DA43-BFC5-9BFA-A17F5F32170B}"/>
              </a:ext>
            </a:extLst>
          </p:cNvPr>
          <p:cNvSpPr txBox="1"/>
          <p:nvPr/>
        </p:nvSpPr>
        <p:spPr>
          <a:xfrm>
            <a:off x="3084104" y="5415152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Y=0,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|1-0| + |0-0| =</a:t>
            </a:r>
          </a:p>
          <a:p>
            <a:r>
              <a:rPr lang="de-DE" dirty="0"/>
              <a:t> 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4E0BBD-5CAF-F2BB-F2EF-54691AD596CE}"/>
              </a:ext>
            </a:extLst>
          </p:cNvPr>
          <p:cNvSpPr txBox="1"/>
          <p:nvPr/>
        </p:nvSpPr>
        <p:spPr>
          <a:xfrm>
            <a:off x="5342015" y="5407771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X=0,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|0-0| + |1-0| =</a:t>
            </a:r>
          </a:p>
          <a:p>
            <a:r>
              <a:rPr lang="de-DE" dirty="0"/>
              <a:t> 1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D5C5315-E7AB-8E59-1714-C8B66B70DFB7}"/>
              </a:ext>
            </a:extLst>
          </p:cNvPr>
          <p:cNvCxnSpPr>
            <a:cxnSpLocks/>
          </p:cNvCxnSpPr>
          <p:nvPr/>
        </p:nvCxnSpPr>
        <p:spPr>
          <a:xfrm>
            <a:off x="1566105" y="4609776"/>
            <a:ext cx="0" cy="797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880241F-2CB7-21A4-7AF7-9DE51737B958}"/>
              </a:ext>
            </a:extLst>
          </p:cNvPr>
          <p:cNvSpPr txBox="1"/>
          <p:nvPr/>
        </p:nvSpPr>
        <p:spPr>
          <a:xfrm>
            <a:off x="888326" y="4164607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First</a:t>
            </a:r>
            <a:endParaRPr lang="en-US" sz="2400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2B6373B-754E-8106-48F8-DFB7B2E212FA}"/>
              </a:ext>
            </a:extLst>
          </p:cNvPr>
          <p:cNvCxnSpPr>
            <a:cxnSpLocks/>
            <a:stCxn id="65" idx="1"/>
            <a:endCxn id="64" idx="3"/>
          </p:cNvCxnSpPr>
          <p:nvPr/>
        </p:nvCxnSpPr>
        <p:spPr>
          <a:xfrm flipH="1" flipV="1">
            <a:off x="2384252" y="6007938"/>
            <a:ext cx="699852" cy="7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CE514DA-9CF6-0739-6980-72E1D50C4B59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4720398" y="6007936"/>
            <a:ext cx="621617" cy="73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63E1D7D-3B08-7750-B144-51EDC0DAAA49}"/>
              </a:ext>
            </a:extLst>
          </p:cNvPr>
          <p:cNvSpPr txBox="1"/>
          <p:nvPr/>
        </p:nvSpPr>
        <p:spPr>
          <a:xfrm>
            <a:off x="80204" y="3579832"/>
            <a:ext cx="400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/>
              <a:t>Result</a:t>
            </a:r>
            <a:r>
              <a:rPr lang="de-DE" sz="3200" b="1" dirty="0"/>
              <a:t> with </a:t>
            </a:r>
            <a:r>
              <a:rPr lang="de-DE" sz="3200" b="1" dirty="0" err="1"/>
              <a:t>priority</a:t>
            </a:r>
            <a:r>
              <a:rPr lang="de-DE" sz="2400" b="1" dirty="0"/>
              <a:t>:</a:t>
            </a:r>
            <a:endParaRPr lang="en-US" sz="2400" b="1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15A494C-025B-985D-0FDA-A08747CD7737}"/>
              </a:ext>
            </a:extLst>
          </p:cNvPr>
          <p:cNvCxnSpPr>
            <a:cxnSpLocks/>
            <a:stCxn id="79" idx="1"/>
          </p:cNvCxnSpPr>
          <p:nvPr/>
        </p:nvCxnSpPr>
        <p:spPr>
          <a:xfrm flipH="1" flipV="1">
            <a:off x="1566104" y="2726450"/>
            <a:ext cx="677782" cy="7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55772AD-86D2-6EA1-0496-C00ED4365DE5}"/>
              </a:ext>
            </a:extLst>
          </p:cNvPr>
          <p:cNvSpPr txBox="1"/>
          <p:nvPr/>
        </p:nvSpPr>
        <p:spPr>
          <a:xfrm>
            <a:off x="2243886" y="2271977"/>
            <a:ext cx="980583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Y=2, </a:t>
            </a:r>
          </a:p>
          <a:p>
            <a:r>
              <a:rPr lang="de-DE" dirty="0"/>
              <a:t>D =3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DA6EC15-12A4-1246-B3C2-AE0D98F7366F}"/>
              </a:ext>
            </a:extLst>
          </p:cNvPr>
          <p:cNvCxnSpPr>
            <a:cxnSpLocks/>
            <a:stCxn id="81" idx="1"/>
            <a:endCxn id="79" idx="3"/>
          </p:cNvCxnSpPr>
          <p:nvPr/>
        </p:nvCxnSpPr>
        <p:spPr>
          <a:xfrm flipH="1">
            <a:off x="3224469" y="2726450"/>
            <a:ext cx="677782" cy="7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2A9F9EC-8484-B926-010B-9465E087AE32}"/>
              </a:ext>
            </a:extLst>
          </p:cNvPr>
          <p:cNvSpPr txBox="1"/>
          <p:nvPr/>
        </p:nvSpPr>
        <p:spPr>
          <a:xfrm>
            <a:off x="3902251" y="2264785"/>
            <a:ext cx="980583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Y=0, </a:t>
            </a:r>
          </a:p>
          <a:p>
            <a:r>
              <a:rPr lang="de-DE" dirty="0"/>
              <a:t>D =1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459AD18-C670-5D26-0E53-E13F615C895A}"/>
              </a:ext>
            </a:extLst>
          </p:cNvPr>
          <p:cNvCxnSpPr>
            <a:cxnSpLocks/>
            <a:stCxn id="83" idx="1"/>
            <a:endCxn id="81" idx="3"/>
          </p:cNvCxnSpPr>
          <p:nvPr/>
        </p:nvCxnSpPr>
        <p:spPr>
          <a:xfrm flipH="1" flipV="1">
            <a:off x="4882834" y="2726450"/>
            <a:ext cx="687798" cy="155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3A7C879-E822-B203-2647-7DD1FD8AA4AB}"/>
              </a:ext>
            </a:extLst>
          </p:cNvPr>
          <p:cNvSpPr txBox="1"/>
          <p:nvPr/>
        </p:nvSpPr>
        <p:spPr>
          <a:xfrm>
            <a:off x="5570632" y="2280304"/>
            <a:ext cx="980583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X=0, Y=0, </a:t>
            </a:r>
          </a:p>
          <a:p>
            <a:r>
              <a:rPr lang="de-DE" dirty="0"/>
              <a:t>D =0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A320937-F9FD-CC7E-AA37-AFED71BE37FB}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6541199" y="2719258"/>
            <a:ext cx="677782" cy="7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18668E4-41DA-E316-32D0-DE30DAFFC0C3}"/>
              </a:ext>
            </a:extLst>
          </p:cNvPr>
          <p:cNvSpPr txBox="1"/>
          <p:nvPr/>
        </p:nvSpPr>
        <p:spPr>
          <a:xfrm>
            <a:off x="7218981" y="2264785"/>
            <a:ext cx="980583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X=0, Y=1, </a:t>
            </a:r>
          </a:p>
          <a:p>
            <a:r>
              <a:rPr lang="de-DE" dirty="0"/>
              <a:t>D =1</a:t>
            </a:r>
          </a:p>
        </p:txBody>
      </p:sp>
    </p:spTree>
    <p:extLst>
      <p:ext uri="{BB962C8B-B14F-4D97-AF65-F5344CB8AC3E}">
        <p14:creationId xmlns:p14="http://schemas.microsoft.com/office/powerpoint/2010/main" val="286709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EFDD-13C7-EE6A-DBA3-1C3E1BC8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Priority</a:t>
            </a:r>
            <a:r>
              <a:rPr lang="de-DE" dirty="0"/>
              <a:t> Queue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36954-D5F6-FA8A-A1BA-938F9A3FCF8B}"/>
              </a:ext>
            </a:extLst>
          </p:cNvPr>
          <p:cNvSpPr/>
          <p:nvPr/>
        </p:nvSpPr>
        <p:spPr>
          <a:xfrm>
            <a:off x="8831179" y="1580050"/>
            <a:ext cx="2767263" cy="2787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04C661-FC91-2FF5-DD87-E3281C473661}"/>
              </a:ext>
            </a:extLst>
          </p:cNvPr>
          <p:cNvCxnSpPr/>
          <p:nvPr/>
        </p:nvCxnSpPr>
        <p:spPr>
          <a:xfrm>
            <a:off x="9781674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A91DE-C31F-68E4-D8FA-8328F87FB5DB}"/>
              </a:ext>
            </a:extLst>
          </p:cNvPr>
          <p:cNvCxnSpPr/>
          <p:nvPr/>
        </p:nvCxnSpPr>
        <p:spPr>
          <a:xfrm>
            <a:off x="10643937" y="1580050"/>
            <a:ext cx="0" cy="2787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4FE54B-EAD1-ED0C-3617-DA5BEE5EA863}"/>
              </a:ext>
            </a:extLst>
          </p:cNvPr>
          <p:cNvCxnSpPr>
            <a:cxnSpLocks/>
          </p:cNvCxnSpPr>
          <p:nvPr/>
        </p:nvCxnSpPr>
        <p:spPr>
          <a:xfrm>
            <a:off x="8831179" y="2490537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146A44-0811-B395-2E23-410A84C7617C}"/>
              </a:ext>
            </a:extLst>
          </p:cNvPr>
          <p:cNvCxnSpPr>
            <a:cxnSpLocks/>
          </p:cNvCxnSpPr>
          <p:nvPr/>
        </p:nvCxnSpPr>
        <p:spPr>
          <a:xfrm>
            <a:off x="8831179" y="3412958"/>
            <a:ext cx="2767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Smiley Face 13">
            <a:extLst>
              <a:ext uri="{FF2B5EF4-FFF2-40B4-BE49-F238E27FC236}">
                <a16:creationId xmlns:a16="http://schemas.microsoft.com/office/drawing/2014/main" id="{A51CC754-B1CD-650A-0385-1D0CCD46AFB0}"/>
              </a:ext>
            </a:extLst>
          </p:cNvPr>
          <p:cNvSpPr/>
          <p:nvPr/>
        </p:nvSpPr>
        <p:spPr>
          <a:xfrm>
            <a:off x="9244259" y="1936425"/>
            <a:ext cx="469229" cy="457200"/>
          </a:xfrm>
          <a:prstGeom prst="smileyFac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DD320E31-2F30-08A0-CB19-A65AF9BE158B}"/>
              </a:ext>
            </a:extLst>
          </p:cNvPr>
          <p:cNvSpPr/>
          <p:nvPr/>
        </p:nvSpPr>
        <p:spPr>
          <a:xfrm>
            <a:off x="8843209" y="1600253"/>
            <a:ext cx="501314" cy="493291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84E72D-4985-BC1B-58EC-2F1686EF04BC}"/>
              </a:ext>
            </a:extLst>
          </p:cNvPr>
          <p:cNvCxnSpPr>
            <a:cxnSpLocks/>
          </p:cNvCxnSpPr>
          <p:nvPr/>
        </p:nvCxnSpPr>
        <p:spPr>
          <a:xfrm>
            <a:off x="8831179" y="1405267"/>
            <a:ext cx="27672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25F285A-BC96-13F1-6DEE-1978FC925FF8}"/>
              </a:ext>
            </a:extLst>
          </p:cNvPr>
          <p:cNvSpPr txBox="1"/>
          <p:nvPr/>
        </p:nvSpPr>
        <p:spPr>
          <a:xfrm>
            <a:off x="9565105" y="935580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X</a:t>
            </a:r>
            <a:endParaRPr lang="en-US" sz="24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98B2C6-A942-21D8-59F3-5FD17983BA2F}"/>
              </a:ext>
            </a:extLst>
          </p:cNvPr>
          <p:cNvCxnSpPr>
            <a:cxnSpLocks/>
          </p:cNvCxnSpPr>
          <p:nvPr/>
        </p:nvCxnSpPr>
        <p:spPr>
          <a:xfrm>
            <a:off x="8634664" y="1604115"/>
            <a:ext cx="0" cy="27473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C3BA80-CD18-6C49-7FA5-D618C71B7C8A}"/>
              </a:ext>
            </a:extLst>
          </p:cNvPr>
          <p:cNvSpPr txBox="1"/>
          <p:nvPr/>
        </p:nvSpPr>
        <p:spPr>
          <a:xfrm>
            <a:off x="7758359" y="2710013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AB96BA-09F4-752E-5384-6378F059DEF6}"/>
              </a:ext>
            </a:extLst>
          </p:cNvPr>
          <p:cNvSpPr txBox="1"/>
          <p:nvPr/>
        </p:nvSpPr>
        <p:spPr>
          <a:xfrm>
            <a:off x="7690206" y="5407771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X=2,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|2-0| + |1-0| =</a:t>
            </a:r>
          </a:p>
          <a:p>
            <a:r>
              <a:rPr lang="de-DE" dirty="0"/>
              <a:t> 3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DBBE83-0877-91AF-1FD8-BA52218AF37A}"/>
              </a:ext>
            </a:extLst>
          </p:cNvPr>
          <p:cNvCxnSpPr>
            <a:cxnSpLocks/>
            <a:stCxn id="12" idx="1"/>
            <a:endCxn id="22" idx="3"/>
          </p:cNvCxnSpPr>
          <p:nvPr/>
        </p:nvCxnSpPr>
        <p:spPr>
          <a:xfrm flipH="1">
            <a:off x="6978309" y="6007936"/>
            <a:ext cx="71189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7E66A49-F3D8-62EC-592F-32C2E8656614}"/>
              </a:ext>
            </a:extLst>
          </p:cNvPr>
          <p:cNvSpPr txBox="1"/>
          <p:nvPr/>
        </p:nvSpPr>
        <p:spPr>
          <a:xfrm>
            <a:off x="747958" y="5407773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X=1, Y=0,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|1-0| + |0-0| =</a:t>
            </a:r>
          </a:p>
          <a:p>
            <a:r>
              <a:rPr lang="de-DE" dirty="0"/>
              <a:t>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09D98A-AF5E-FCDE-CD66-66FDA31F69C5}"/>
              </a:ext>
            </a:extLst>
          </p:cNvPr>
          <p:cNvSpPr txBox="1"/>
          <p:nvPr/>
        </p:nvSpPr>
        <p:spPr>
          <a:xfrm>
            <a:off x="3084104" y="5415152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X=0,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|0-0| + |1-0| =</a:t>
            </a:r>
          </a:p>
          <a:p>
            <a:r>
              <a:rPr lang="de-DE" dirty="0"/>
              <a:t>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2FB904-77D4-D042-A403-8955F71DF129}"/>
              </a:ext>
            </a:extLst>
          </p:cNvPr>
          <p:cNvSpPr txBox="1"/>
          <p:nvPr/>
        </p:nvSpPr>
        <p:spPr>
          <a:xfrm>
            <a:off x="5342015" y="5407771"/>
            <a:ext cx="163629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X=2, Y=1, </a:t>
            </a:r>
          </a:p>
          <a:p>
            <a:r>
              <a:rPr lang="de-DE" dirty="0" err="1"/>
              <a:t>Distance</a:t>
            </a:r>
            <a:r>
              <a:rPr lang="de-DE" dirty="0"/>
              <a:t> = </a:t>
            </a:r>
          </a:p>
          <a:p>
            <a:r>
              <a:rPr lang="de-DE" dirty="0"/>
              <a:t>|2-0| + |1-0| =</a:t>
            </a:r>
          </a:p>
          <a:p>
            <a:r>
              <a:rPr lang="de-DE" dirty="0"/>
              <a:t> 3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377EB9-39C2-FD44-E27D-AB34B95B9A0A}"/>
              </a:ext>
            </a:extLst>
          </p:cNvPr>
          <p:cNvCxnSpPr>
            <a:cxnSpLocks/>
          </p:cNvCxnSpPr>
          <p:nvPr/>
        </p:nvCxnSpPr>
        <p:spPr>
          <a:xfrm>
            <a:off x="1566105" y="4609776"/>
            <a:ext cx="0" cy="797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0494057-F215-7F34-A595-0045D09B62C5}"/>
              </a:ext>
            </a:extLst>
          </p:cNvPr>
          <p:cNvSpPr txBox="1"/>
          <p:nvPr/>
        </p:nvSpPr>
        <p:spPr>
          <a:xfrm>
            <a:off x="888326" y="4164607"/>
            <a:ext cx="133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Done</a:t>
            </a:r>
            <a:endParaRPr lang="en-US" sz="2400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DA8992-ED48-800B-4689-154841DDD3F2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 flipV="1">
            <a:off x="2384252" y="6007938"/>
            <a:ext cx="699852" cy="7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C92DC7-1E27-D800-BDC3-C831255D1EFA}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flipH="1">
            <a:off x="4720398" y="6007936"/>
            <a:ext cx="621617" cy="73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6660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Custom 1">
      <a:dk1>
        <a:sysClr val="windowText" lastClr="000000"/>
      </a:dk1>
      <a:lt1>
        <a:sysClr val="window" lastClr="FFFFFF"/>
      </a:lt1>
      <a:dk2>
        <a:srgbClr val="212123"/>
      </a:dk2>
      <a:lt2>
        <a:srgbClr val="FFFFFF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0</TotalTime>
  <Words>668</Words>
  <Application>Microsoft Office PowerPoint</Application>
  <PresentationFormat>Widescreen</PresentationFormat>
  <Paragraphs>121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 2</vt:lpstr>
      <vt:lpstr>Slate</vt:lpstr>
      <vt:lpstr>Heuristic Search</vt:lpstr>
      <vt:lpstr>What does „heuristic“ does even mean?</vt:lpstr>
      <vt:lpstr>Greedy Search</vt:lpstr>
      <vt:lpstr>Priority Queue</vt:lpstr>
      <vt:lpstr>Priority Queue</vt:lpstr>
      <vt:lpstr>Priority Queue</vt:lpstr>
      <vt:lpstr>Priority 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Search</dc:title>
  <dc:creator>Tsakpinis, Achilleas</dc:creator>
  <cp:lastModifiedBy>Tsakpinis, Achilleas</cp:lastModifiedBy>
  <cp:revision>7</cp:revision>
  <dcterms:created xsi:type="dcterms:W3CDTF">2022-09-06T12:08:00Z</dcterms:created>
  <dcterms:modified xsi:type="dcterms:W3CDTF">2022-09-06T13:13:29Z</dcterms:modified>
</cp:coreProperties>
</file>