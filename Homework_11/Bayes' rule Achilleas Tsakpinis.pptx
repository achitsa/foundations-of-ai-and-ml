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E2EB1-6BAD-2C2B-84FE-D6C6C75BB2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746914-254C-CA89-6BE7-2CB70D9EB5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A9B8A-656F-D56F-8827-C15710C6D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EDDC-33B8-4A0B-9AFF-626B3E210BE3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052A0-844D-7B11-ECDE-31845955F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74BA-D5A2-1D60-89F0-E2E514AD8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1017-05BF-414B-A867-48981C21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379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0DE7F-D813-069E-1F5A-A880AD4CB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F4BFA-C61C-F37F-08D3-AE9ABCA75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ACBE9-0E56-DF85-969D-D0E5FEC96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EDDC-33B8-4A0B-9AFF-626B3E210BE3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D2A5C-0FEE-BC16-88A7-578647235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67573-AAC3-753D-C891-6CC1E24C8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1017-05BF-414B-A867-48981C21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426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2AAC4-75B5-752C-8FCE-5DD22F12C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1F226-1FE5-84C9-8FCE-A77EFC2AE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C93A1-E5E8-123C-E4DE-26E1BA9F3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EDDC-33B8-4A0B-9AFF-626B3E210BE3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2202F-26BA-A016-BC4C-4AD2D1092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17A92-AD7C-544A-DB06-E79A38F77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1017-05BF-414B-A867-48981C21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022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A2A0E-373D-12A2-0A0E-108A6C2B7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B1839-70F4-7DC3-B3DE-F9C75A0DCB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B274FC-1705-B989-AAAE-2B6E27AB56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729DD-14F9-02F9-B8DF-9247CAE4B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EDDC-33B8-4A0B-9AFF-626B3E210BE3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F4839D-B57E-0848-8BF9-81FCC6801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8AA210-F80F-6580-77B5-ADF744F92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1017-05BF-414B-A867-48981C21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71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40A5D-1C60-A976-6C65-73FF84B8F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52A05-398D-9F9C-4F0A-00A7BA058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B920D-B6FB-DE3F-4511-82C1281B60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D9C86-925A-4B7A-A274-DFFE6B259E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2327AD-BB8B-2BDA-9787-877873E751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E6901E-E735-DA03-2C43-A6A8A11A6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EDDC-33B8-4A0B-9AFF-626B3E210BE3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4F6814-12D4-2D95-E937-B17E42AD1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FB35B9-B914-B3FF-88EA-E13E8114C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1017-05BF-414B-A867-48981C21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30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CCE42-B2BA-D0D9-226B-5A5989E4D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207AE3-D43F-4A76-4288-950E1F596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EDDC-33B8-4A0B-9AFF-626B3E210BE3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45BA76-B72F-D59E-9861-CC1489BC1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E30C1C-34F4-1789-3A1E-9A87D2A94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1017-05BF-414B-A867-48981C21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852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F1898E-EBCD-829E-E73B-580B7DA70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EDDC-33B8-4A0B-9AFF-626B3E210BE3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9C15E0-5113-2891-76FD-CFF7B9EE4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92603-4BB4-CEA4-564C-05A7CF8BD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1017-05BF-414B-A867-48981C21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318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7AB5E-A7D2-4614-20B2-F99A57419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35A7B-8209-08A8-BA54-93C0EF8D5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DC4C2-C746-7B71-EF0F-A83B329A4C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71238-94E9-3EEF-B774-CA19E9406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EDDC-33B8-4A0B-9AFF-626B3E210BE3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4E6D57-BE95-A741-3DA4-F7D855820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E750B-FA8F-EA1D-09B8-A4EBC949A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1017-05BF-414B-A867-48981C21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640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B0AB-EAAE-5596-DEBA-F95445425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5F20F8-5D31-C32F-5361-5B225F0239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077F10-DB70-9D3B-3F37-A431AD81D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2421F-57FB-CCF9-626E-0E20AD740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EDDC-33B8-4A0B-9AFF-626B3E210BE3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C497C-1148-01FB-81A4-B7B90C546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C11E27-94CB-B725-EB67-1DBF00895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1017-05BF-414B-A867-48981C21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899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C3443-3B49-D32C-1CB4-885438EE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96FEA1-B7CE-7A1E-CF5C-0D3FD185F7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500E6-A61A-E7ED-D886-CF0C9E0D7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EDDC-33B8-4A0B-9AFF-626B3E210BE3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754B2-01EA-D7CC-3DDC-0CCF96278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8D6FB-2DD5-FF40-226C-1EFC279FC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1017-05BF-414B-A867-48981C21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30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8EF7AC-2248-5DA4-AEE1-F64A4C0EDB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FA469A-A96E-8A59-58C5-B721DAEB47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21ABA-3C3A-D4F2-5331-1B40CED1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EDDC-33B8-4A0B-9AFF-626B3E210BE3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64535-0498-EBE9-D82F-5B6591D16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B5CAB-E687-82EB-4787-7E7A097BC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1017-05BF-414B-A867-48981C21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535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898F60-CB1C-A0F8-EAFC-2EFFBAC4E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896DC-0583-F387-AF1C-15D6BC8B6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CDFAD-4F43-5E7B-0C57-F6ABD7FC7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CEEDDC-33B8-4A0B-9AFF-626B3E210BE3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5E1AA-B690-9227-D2CE-0265C97CB8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EAB27-BF98-2B3D-5D1C-DEC1A1757F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A1017-05BF-414B-A867-48981C21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766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29DDE-9576-9358-4528-57251801B0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88992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Proxima Nova"/>
              </a:rPr>
              <a:t>Bayes' rule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B1A732-7F2A-CA0A-CCA8-934461E4BE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Achilleas Tsakpinis</a:t>
            </a:r>
          </a:p>
          <a:p>
            <a:r>
              <a:rPr lang="de-DE" dirty="0"/>
              <a:t>22.11.2022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152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FC95F-797B-B730-923F-75BE1118E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Conditional</a:t>
            </a:r>
            <a:r>
              <a:rPr lang="de-DE" dirty="0"/>
              <a:t> </a:t>
            </a:r>
            <a:r>
              <a:rPr lang="de-DE" dirty="0" err="1"/>
              <a:t>probability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230E31-2AF1-6411-042E-34D7AAE3A93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16E85E1-7358-60E0-CCF8-C0072359E0BB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55380" cy="13102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sz="36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de-DE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3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de-DE" sz="36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de-DE" sz="36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e-DE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36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de-DE" sz="3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3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de-DE" sz="36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de-DE" sz="3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de-DE" sz="3600" b="0" i="1" smtClean="0">
                            <a:latin typeface="Cambria Math" panose="02040503050406030204" pitchFamily="18" charset="0"/>
                          </a:rPr>
                          <m:t>)∗</m:t>
                        </m:r>
                        <m:r>
                          <a:rPr lang="de-DE" sz="36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de-DE" sz="3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36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de-DE" sz="36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de-DE" sz="36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de-DE" sz="3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36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de-DE" sz="36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3600" i="1" dirty="0">
                    <a:latin typeface="Cambria Math" panose="02040503050406030204" pitchFamily="18" charset="0"/>
                  </a:rPr>
                  <a:t>  </a:t>
                </a:r>
              </a:p>
              <a:p>
                <a:r>
                  <a:rPr lang="en-US" dirty="0">
                    <a:latin typeface="+mj-lt"/>
                    <a:ea typeface="+mj-ea"/>
                    <a:cs typeface="+mj-cs"/>
                  </a:rPr>
                  <a:t>“Probability of  event A with the condition that event B already occurred”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16E85E1-7358-60E0-CCF8-C0072359E0BB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55380" cy="1310295"/>
              </a:xfrm>
              <a:prstGeom prst="rect">
                <a:avLst/>
              </a:prstGeom>
              <a:blipFill>
                <a:blip r:embed="rId2"/>
                <a:stretch>
                  <a:fillRect l="-1871" r="-1020" b="-15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2474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FC95F-797B-B730-923F-75BE1118E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illustration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230E31-2AF1-6411-042E-34D7AAE3A93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D998EDE-D16B-1E80-B067-8A46F2620B8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8100" y="246635"/>
            <a:ext cx="7667625" cy="6364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1921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25A54-48E5-8E22-4051-B64EC7439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Conditional</a:t>
            </a:r>
            <a:r>
              <a:rPr lang="de-DE" dirty="0"/>
              <a:t> </a:t>
            </a:r>
            <a:r>
              <a:rPr lang="de-DE" dirty="0" err="1"/>
              <a:t>probability</a:t>
            </a:r>
            <a:r>
              <a:rPr lang="de-DE" dirty="0"/>
              <a:t> </a:t>
            </a:r>
            <a:r>
              <a:rPr lang="de-DE" dirty="0" err="1"/>
              <a:t>example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6E1A7B-9626-17F1-C51B-D1A03977DE4D}"/>
              </a:ext>
            </a:extLst>
          </p:cNvPr>
          <p:cNvSpPr txBox="1"/>
          <p:nvPr/>
        </p:nvSpPr>
        <p:spPr>
          <a:xfrm>
            <a:off x="5436296" y="1690688"/>
            <a:ext cx="1327759" cy="7078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2000" dirty="0" err="1"/>
              <a:t>Inspected</a:t>
            </a:r>
            <a:endParaRPr lang="de-DE" sz="2000" dirty="0"/>
          </a:p>
          <a:p>
            <a:r>
              <a:rPr lang="de-DE" sz="2000" dirty="0"/>
              <a:t>100 000</a:t>
            </a: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F092BA-834D-5CD8-C541-B2F0F5CF00CA}"/>
              </a:ext>
            </a:extLst>
          </p:cNvPr>
          <p:cNvSpPr txBox="1"/>
          <p:nvPr/>
        </p:nvSpPr>
        <p:spPr>
          <a:xfrm>
            <a:off x="3336126" y="2552698"/>
            <a:ext cx="1114424" cy="7078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2000" dirty="0" err="1"/>
              <a:t>Infected</a:t>
            </a:r>
            <a:endParaRPr lang="de-DE" sz="2000" dirty="0"/>
          </a:p>
          <a:p>
            <a:r>
              <a:rPr lang="de-DE" sz="2000" dirty="0"/>
              <a:t>20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547318-008C-FF49-2D52-50E1A9EDE110}"/>
              </a:ext>
            </a:extLst>
          </p:cNvPr>
          <p:cNvSpPr txBox="1"/>
          <p:nvPr/>
        </p:nvSpPr>
        <p:spPr>
          <a:xfrm>
            <a:off x="7870025" y="2552699"/>
            <a:ext cx="985850" cy="7078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2000" dirty="0" err="1"/>
              <a:t>Healthy</a:t>
            </a:r>
            <a:endParaRPr lang="de-DE" sz="2000" dirty="0"/>
          </a:p>
          <a:p>
            <a:r>
              <a:rPr lang="de-DE" sz="2000" dirty="0"/>
              <a:t>99 980</a:t>
            </a: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F12DE4-FFB2-DC27-A421-370D353AC94F}"/>
              </a:ext>
            </a:extLst>
          </p:cNvPr>
          <p:cNvSpPr txBox="1"/>
          <p:nvPr/>
        </p:nvSpPr>
        <p:spPr>
          <a:xfrm>
            <a:off x="1840700" y="3658967"/>
            <a:ext cx="1570229" cy="707886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de-DE" sz="2000" dirty="0"/>
              <a:t>Negative Test</a:t>
            </a:r>
          </a:p>
          <a:p>
            <a:r>
              <a:rPr lang="de-DE" sz="2000" dirty="0"/>
              <a:t>1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0D9F62-511C-5A04-CE1E-C4902A5F50FE}"/>
              </a:ext>
            </a:extLst>
          </p:cNvPr>
          <p:cNvSpPr txBox="1"/>
          <p:nvPr/>
        </p:nvSpPr>
        <p:spPr>
          <a:xfrm>
            <a:off x="8855875" y="3658969"/>
            <a:ext cx="1628410" cy="707886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de-DE" sz="2000" dirty="0"/>
              <a:t>Negative Test</a:t>
            </a:r>
          </a:p>
          <a:p>
            <a:r>
              <a:rPr lang="de-DE" sz="2000" dirty="0"/>
              <a:t>98980</a:t>
            </a: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CC63DD-A830-C171-224B-3E62A22460B5}"/>
              </a:ext>
            </a:extLst>
          </p:cNvPr>
          <p:cNvSpPr txBox="1"/>
          <p:nvPr/>
        </p:nvSpPr>
        <p:spPr>
          <a:xfrm>
            <a:off x="4321976" y="3658968"/>
            <a:ext cx="1495425" cy="707886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de-DE" sz="2000" dirty="0"/>
              <a:t>Positive Test</a:t>
            </a:r>
          </a:p>
          <a:p>
            <a:r>
              <a:rPr lang="de-DE" sz="2000" dirty="0"/>
              <a:t>19</a:t>
            </a: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31275B-EA99-13BA-A4A0-26FDF7624B7F}"/>
              </a:ext>
            </a:extLst>
          </p:cNvPr>
          <p:cNvSpPr txBox="1"/>
          <p:nvPr/>
        </p:nvSpPr>
        <p:spPr>
          <a:xfrm>
            <a:off x="6374600" y="3658969"/>
            <a:ext cx="1495425" cy="707886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de-DE" sz="2000" dirty="0"/>
              <a:t>Positive Test</a:t>
            </a:r>
          </a:p>
          <a:p>
            <a:r>
              <a:rPr lang="de-DE" sz="2000" dirty="0"/>
              <a:t>1000</a:t>
            </a:r>
            <a:endParaRPr lang="en-US" sz="20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EA6B3F5-B2EE-5F3D-24DC-C5D62C0536A9}"/>
              </a:ext>
            </a:extLst>
          </p:cNvPr>
          <p:cNvCxnSpPr>
            <a:cxnSpLocks/>
            <a:stCxn id="5" idx="1"/>
            <a:endCxn id="6" idx="0"/>
          </p:cNvCxnSpPr>
          <p:nvPr/>
        </p:nvCxnSpPr>
        <p:spPr>
          <a:xfrm flipH="1">
            <a:off x="3893338" y="2044631"/>
            <a:ext cx="1542958" cy="5080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AEFAA00-83B2-939C-E4DC-E0ADF8DDA90C}"/>
              </a:ext>
            </a:extLst>
          </p:cNvPr>
          <p:cNvCxnSpPr>
            <a:cxnSpLocks/>
            <a:stCxn id="6" idx="1"/>
            <a:endCxn id="8" idx="0"/>
          </p:cNvCxnSpPr>
          <p:nvPr/>
        </p:nvCxnSpPr>
        <p:spPr>
          <a:xfrm flipH="1">
            <a:off x="2625815" y="2906641"/>
            <a:ext cx="710311" cy="7523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3BED7B2-529E-7396-DBE9-6F11DD903A11}"/>
              </a:ext>
            </a:extLst>
          </p:cNvPr>
          <p:cNvCxnSpPr>
            <a:cxnSpLocks/>
            <a:stCxn id="6" idx="3"/>
            <a:endCxn id="10" idx="0"/>
          </p:cNvCxnSpPr>
          <p:nvPr/>
        </p:nvCxnSpPr>
        <p:spPr>
          <a:xfrm>
            <a:off x="4450550" y="2906641"/>
            <a:ext cx="619139" cy="75232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3DAE42F-091E-AE4B-A0DA-80446C357B56}"/>
              </a:ext>
            </a:extLst>
          </p:cNvPr>
          <p:cNvCxnSpPr>
            <a:cxnSpLocks/>
            <a:stCxn id="5" idx="3"/>
            <a:endCxn id="7" idx="0"/>
          </p:cNvCxnSpPr>
          <p:nvPr/>
        </p:nvCxnSpPr>
        <p:spPr>
          <a:xfrm>
            <a:off x="6764055" y="2044631"/>
            <a:ext cx="1598895" cy="5080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836EB08-79EB-2427-BF0B-97331823EDCD}"/>
              </a:ext>
            </a:extLst>
          </p:cNvPr>
          <p:cNvCxnSpPr>
            <a:cxnSpLocks/>
            <a:stCxn id="7" idx="1"/>
            <a:endCxn id="11" idx="0"/>
          </p:cNvCxnSpPr>
          <p:nvPr/>
        </p:nvCxnSpPr>
        <p:spPr>
          <a:xfrm flipH="1">
            <a:off x="7122313" y="2906642"/>
            <a:ext cx="747712" cy="75232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4D02027-AC9C-1396-561D-D7BDF99B30BB}"/>
              </a:ext>
            </a:extLst>
          </p:cNvPr>
          <p:cNvCxnSpPr>
            <a:cxnSpLocks/>
            <a:stCxn id="7" idx="3"/>
            <a:endCxn id="9" idx="0"/>
          </p:cNvCxnSpPr>
          <p:nvPr/>
        </p:nvCxnSpPr>
        <p:spPr>
          <a:xfrm>
            <a:off x="8855875" y="2906642"/>
            <a:ext cx="814205" cy="75232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 descr="dsf">
            <a:extLst>
              <a:ext uri="{FF2B5EF4-FFF2-40B4-BE49-F238E27FC236}">
                <a16:creationId xmlns:a16="http://schemas.microsoft.com/office/drawing/2014/main" id="{519A02CD-1105-BC50-D6AC-9F7B6C8B561B}"/>
              </a:ext>
            </a:extLst>
          </p:cNvPr>
          <p:cNvSpPr/>
          <p:nvPr/>
        </p:nvSpPr>
        <p:spPr>
          <a:xfrm>
            <a:off x="4158641" y="3428999"/>
            <a:ext cx="3949522" cy="17383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noFill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27BADA-3DD6-3C7D-9B2C-2881DC1D7DE9}"/>
              </a:ext>
            </a:extLst>
          </p:cNvPr>
          <p:cNvSpPr txBox="1"/>
          <p:nvPr/>
        </p:nvSpPr>
        <p:spPr>
          <a:xfrm>
            <a:off x="4321976" y="4622104"/>
            <a:ext cx="35480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Positive </a:t>
            </a:r>
            <a:r>
              <a:rPr lang="de-DE" sz="2000" dirty="0" err="1"/>
              <a:t>tested</a:t>
            </a:r>
            <a:r>
              <a:rPr lang="de-DE" sz="2000" dirty="0"/>
              <a:t>: 1019</a:t>
            </a:r>
            <a:endParaRPr lang="en-US" sz="2000" dirty="0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F62AA48E-CE69-0024-9A1F-4A328E7C9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47949" y="5646190"/>
            <a:ext cx="5696100" cy="1076702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B3497477-33AC-2321-C901-E08DC941CE17}"/>
              </a:ext>
            </a:extLst>
          </p:cNvPr>
          <p:cNvSpPr txBox="1"/>
          <p:nvPr/>
        </p:nvSpPr>
        <p:spPr>
          <a:xfrm>
            <a:off x="3789680" y="5769042"/>
            <a:ext cx="462280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de-DE" sz="4800" i="1" dirty="0"/>
              <a:t>I</a:t>
            </a:r>
            <a:endParaRPr lang="en-US" sz="4000" i="1" dirty="0"/>
          </a:p>
        </p:txBody>
      </p:sp>
    </p:spTree>
    <p:extLst>
      <p:ext uri="{BB962C8B-B14F-4D97-AF65-F5344CB8AC3E}">
        <p14:creationId xmlns:p14="http://schemas.microsoft.com/office/powerpoint/2010/main" val="1553151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FC95F-797B-B730-923F-75BE1118E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Conditional</a:t>
            </a:r>
            <a:r>
              <a:rPr lang="de-DE" dirty="0"/>
              <a:t> </a:t>
            </a:r>
            <a:r>
              <a:rPr lang="de-DE" dirty="0" err="1"/>
              <a:t>probability</a:t>
            </a:r>
            <a:r>
              <a:rPr lang="de-DE" dirty="0"/>
              <a:t> </a:t>
            </a:r>
            <a:r>
              <a:rPr lang="de-DE" dirty="0" err="1"/>
              <a:t>example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230E31-2AF1-6411-042E-34D7AAE3A93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FC1DE7B-F3AC-302A-5234-2A122BAB7B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1" y="1825625"/>
                <a:ext cx="12192001" cy="4351338"/>
              </a:xfrm>
            </p:spPr>
            <p:txBody>
              <a:bodyPr>
                <a:normAutofit/>
              </a:bodyPr>
              <a:lstStyle/>
              <a:p>
                <a:pPr lvl="1"/>
                <a14:m>
                  <m:oMath xmlns:m="http://schemas.openxmlformats.org/officeDocument/2006/math">
                    <m:r>
                      <a:rPr lang="de-DE" sz="28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  <m:e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𝐴𝑙𝑐𝑜h𝑜𝑙</m:t>
                        </m:r>
                      </m:e>
                    </m:d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=0.99</m:t>
                    </m:r>
                  </m:oMath>
                </a14:m>
                <a:endParaRPr lang="de-DE" sz="2800" b="0" dirty="0"/>
              </a:p>
              <a:p>
                <a:pPr lvl="1"/>
                <a14:m>
                  <m:oMath xmlns:m="http://schemas.openxmlformats.org/officeDocument/2006/math">
                    <m:r>
                      <a:rPr lang="de-DE" sz="28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+</m:t>
                        </m:r>
                      </m:e>
                      <m:e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𝑁𝑜</m:t>
                        </m:r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𝐴𝑙𝑐𝑜h𝑜𝑙</m:t>
                        </m:r>
                      </m:e>
                    </m:d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=0.03</m:t>
                    </m:r>
                  </m:oMath>
                </a14:m>
                <a:endParaRPr lang="de-DE" sz="2800" b="0" dirty="0"/>
              </a:p>
              <a:p>
                <a:pPr lvl="1"/>
                <a14:m>
                  <m:oMath xmlns:m="http://schemas.openxmlformats.org/officeDocument/2006/math">
                    <m:r>
                      <a:rPr lang="de-DE" sz="28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de-DE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𝐴𝑙𝑐𝑜h𝑜𝑙</m:t>
                        </m:r>
                      </m:e>
                    </m:d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=0.0</m:t>
                    </m:r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de-DE" sz="2800" b="0" dirty="0"/>
              </a:p>
              <a:p>
                <a:pPr marL="457200" lvl="1" indent="0">
                  <a:buNone/>
                </a:pPr>
                <a:r>
                  <a:rPr lang="de-DE" sz="2800" b="0" dirty="0">
                    <a:sym typeface="Wingdings" panose="05000000000000000000" pitchFamily="2" charset="2"/>
                  </a:rPr>
                  <a:t></a:t>
                </a:r>
                <a14:m>
                  <m:oMath xmlns:m="http://schemas.openxmlformats.org/officeDocument/2006/math">
                    <m:r>
                      <a:rPr lang="de-DE" sz="28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de-DE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𝑁𝑜</m:t>
                        </m:r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𝐴𝑙𝑐𝑜h𝑜𝑙</m:t>
                        </m:r>
                      </m:e>
                    </m:d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.95</m:t>
                    </m:r>
                  </m:oMath>
                </a14:m>
                <a:endParaRPr lang="de-DE" sz="2800" b="0" dirty="0"/>
              </a:p>
              <a:p>
                <a:pPr lvl="1">
                  <a:buFont typeface="Wingdings" panose="05000000000000000000" pitchFamily="2" charset="2"/>
                  <a:buChar char="è"/>
                </a:pPr>
                <a14:m>
                  <m:oMath xmlns:m="http://schemas.openxmlformats.org/officeDocument/2006/math">
                    <m:r>
                      <a:rPr lang="de-DE" sz="2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𝐴𝑙𝑐𝑜h𝑜𝑙</m:t>
                        </m:r>
                      </m:e>
                    </m:d>
                    <m:r>
                      <a:rPr lang="de-DE" sz="2800" i="1">
                        <a:latin typeface="Cambria Math" panose="02040503050406030204" pitchFamily="18" charset="0"/>
                      </a:rPr>
                      <m:t> ∗</m:t>
                    </m:r>
                    <m:r>
                      <a:rPr lang="de-DE" sz="2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+</m:t>
                        </m:r>
                      </m:e>
                      <m:e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𝐴𝑙𝑐𝑜h𝑜𝑙</m:t>
                        </m:r>
                      </m:e>
                    </m:d>
                  </m:oMath>
                </a14:m>
                <a:r>
                  <a:rPr lang="de-DE" sz="2800" i="1" dirty="0">
                    <a:latin typeface="Cambria Math" panose="02040503050406030204" pitchFamily="18" charset="0"/>
                  </a:rPr>
                  <a:t> + </a:t>
                </a:r>
                <a14:m>
                  <m:oMath xmlns:m="http://schemas.openxmlformats.org/officeDocument/2006/math">
                    <m:r>
                      <a:rPr lang="de-DE" sz="2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𝑁𝑜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𝐴𝑙𝑐𝑜h𝑜𝑙</m:t>
                        </m:r>
                      </m:e>
                    </m:d>
                  </m:oMath>
                </a14:m>
                <a:r>
                  <a:rPr lang="de-DE" sz="2800" i="1" dirty="0">
                    <a:latin typeface="Cambria Math" panose="02040503050406030204" pitchFamily="18" charset="0"/>
                  </a:rPr>
                  <a:t> * </a:t>
                </a:r>
                <a14:m>
                  <m:oMath xmlns:m="http://schemas.openxmlformats.org/officeDocument/2006/math">
                    <m:r>
                      <a:rPr lang="de-DE" sz="2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+</m:t>
                        </m:r>
                      </m:e>
                      <m:e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𝑁𝑜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𝐴𝑙𝑐𝑜h𝑜𝑙</m:t>
                        </m:r>
                      </m:e>
                    </m:d>
                  </m:oMath>
                </a14:m>
                <a:endParaRPr lang="de-DE" sz="280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r>
                  <a:rPr lang="de-DE" sz="2800" i="1" dirty="0">
                    <a:latin typeface="Cambria Math" panose="02040503050406030204" pitchFamily="18" charset="0"/>
                  </a:rPr>
                  <a:t>	           </a:t>
                </a:r>
                <a:r>
                  <a:rPr lang="de-DE" sz="2800" dirty="0">
                    <a:latin typeface="Cambria Math" panose="02040503050406030204" pitchFamily="18" charset="0"/>
                  </a:rPr>
                  <a:t>= 0.07</a:t>
                </a:r>
              </a:p>
              <a:p>
                <a:pPr marL="457200" lvl="1" indent="0">
                  <a:buNone/>
                </a:pPr>
                <a:r>
                  <a:rPr lang="de-DE" sz="2800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r>
                      <a:rPr lang="de-DE" sz="28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𝐴𝑙𝑐𝑜h𝑜𝑙</m:t>
                        </m:r>
                      </m:e>
                      <m:e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de-DE" sz="2800" b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𝐴𝑙</m:t>
                        </m:r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𝑐𝑜h𝑜𝑙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)∗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𝐴𝑙𝑐𝑜</m:t>
                        </m:r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h𝑜𝑙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(+)</m:t>
                        </m:r>
                      </m:den>
                    </m:f>
                  </m:oMath>
                </a14:m>
                <a:r>
                  <a:rPr lang="en-US" sz="2800" i="1" dirty="0">
                    <a:latin typeface="Cambria Math" panose="02040503050406030204" pitchFamily="18" charset="0"/>
                  </a:rPr>
                  <a:t> </a:t>
                </a:r>
                <a:r>
                  <a:rPr lang="en-US" sz="2800" dirty="0">
                    <a:latin typeface="Cambria Math" panose="02040503050406030204" pitchFamily="18" charset="0"/>
                  </a:rPr>
                  <a:t>= 0.63</a:t>
                </a:r>
                <a:endParaRPr lang="de-DE" sz="2800" b="0" dirty="0"/>
              </a:p>
              <a:p>
                <a:pPr marL="457200" lvl="1" indent="0">
                  <a:buNone/>
                </a:pPr>
                <a:endParaRPr lang="de-DE" sz="280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FC1DE7B-F3AC-302A-5234-2A122BAB7B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1" y="1825625"/>
                <a:ext cx="12192001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4834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</Words>
  <Application>Microsoft Office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Proxima Nova</vt:lpstr>
      <vt:lpstr>Wingdings</vt:lpstr>
      <vt:lpstr>Office Theme</vt:lpstr>
      <vt:lpstr>Bayes' rule</vt:lpstr>
      <vt:lpstr>Conditional probability</vt:lpstr>
      <vt:lpstr>Graphical illustration</vt:lpstr>
      <vt:lpstr>Conditional probability example</vt:lpstr>
      <vt:lpstr>Conditional probability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Resolution Algorithm</dc:title>
  <dc:creator>Tsakpinis, Achilleas</dc:creator>
  <cp:lastModifiedBy>Tsakpinis, Achilleas</cp:lastModifiedBy>
  <cp:revision>5</cp:revision>
  <dcterms:created xsi:type="dcterms:W3CDTF">2022-10-11T14:05:54Z</dcterms:created>
  <dcterms:modified xsi:type="dcterms:W3CDTF">2022-11-16T21:01:01Z</dcterms:modified>
</cp:coreProperties>
</file>